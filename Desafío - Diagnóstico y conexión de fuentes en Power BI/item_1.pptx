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02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911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3728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841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588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92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095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7053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3936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650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1506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8371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5099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89706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4752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165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F1C7F-03C7-46A6-B4F6-080362657E5E}" type="datetimeFigureOut">
              <a:rPr lang="es-CL" smtClean="0"/>
              <a:t>25-08-2026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99A01D9-46F1-4FA0-A454-ED3714161C6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205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C4BAF-0216-F5AF-A2E4-2BE7D032F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Proyecto </a:t>
            </a:r>
            <a:r>
              <a:rPr lang="es-MX" dirty="0" err="1"/>
              <a:t>SmartRetail</a:t>
            </a:r>
            <a:r>
              <a:rPr lang="es-MX" dirty="0"/>
              <a:t>: Transformación Analítica y Sistema BI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75B46-4D0C-D105-1573-A1C9992D2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646302"/>
          </a:xfrm>
        </p:spPr>
        <p:txBody>
          <a:bodyPr>
            <a:normAutofit/>
          </a:bodyPr>
          <a:lstStyle/>
          <a:p>
            <a:r>
              <a:rPr lang="es-CL" dirty="0"/>
              <a:t>Justificación Estratégica e Implementación</a:t>
            </a:r>
          </a:p>
          <a:p>
            <a:endParaRPr lang="es-CL" dirty="0"/>
          </a:p>
          <a:p>
            <a:r>
              <a:rPr lang="es-CL" dirty="0"/>
              <a:t>Equipo de Analistas de Business </a:t>
            </a:r>
            <a:r>
              <a:rPr lang="es-CL" dirty="0" err="1"/>
              <a:t>Intelligence</a:t>
            </a:r>
            <a:endParaRPr lang="es-CL" dirty="0"/>
          </a:p>
          <a:p>
            <a:r>
              <a:rPr lang="es-CL" dirty="0"/>
              <a:t>Agosto 2026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0A21277-A98C-71C6-2D52-836CF706E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96" y="3971266"/>
            <a:ext cx="3421311" cy="182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9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94BA1-3553-04BC-6F3B-1B5C46270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un Sistema BI y por qué es Vital para </a:t>
            </a:r>
            <a:r>
              <a:rPr lang="es-MX" dirty="0" err="1"/>
              <a:t>SmartRetail</a:t>
            </a:r>
            <a:r>
              <a:rPr lang="es-MX" dirty="0"/>
              <a:t>?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B25BF6-E989-16B1-DAE4-F40F2F3DF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sz="2000" b="1" u="none" strike="noStrike" dirty="0">
                <a:effectLst/>
              </a:rPr>
              <a:t>Centralización:</a:t>
            </a:r>
            <a:r>
              <a:rPr lang="es-MX" sz="2000" dirty="0"/>
              <a:t> Une datos de inventario y ventas en una sola fuente.</a:t>
            </a:r>
          </a:p>
          <a:p>
            <a:endParaRPr lang="es-MX" sz="2000" b="1" u="none" strike="noStrike" dirty="0">
              <a:effectLst/>
            </a:endParaRPr>
          </a:p>
          <a:p>
            <a:r>
              <a:rPr lang="es-MX" sz="2000" b="1" u="none" strike="noStrike" dirty="0">
                <a:effectLst/>
              </a:rPr>
              <a:t>Automatización:</a:t>
            </a:r>
            <a:r>
              <a:rPr lang="es-MX" sz="2000" dirty="0"/>
              <a:t> Elimina reportes manuales y tediosos en hojas de cálculo.</a:t>
            </a:r>
          </a:p>
          <a:p>
            <a:endParaRPr lang="es-CL" sz="2000" b="1" u="none" strike="noStrike" dirty="0">
              <a:effectLst/>
            </a:endParaRPr>
          </a:p>
          <a:p>
            <a:r>
              <a:rPr lang="es-CL" sz="2000" b="1" u="none" strike="noStrike" dirty="0">
                <a:effectLst/>
              </a:rPr>
              <a:t>Cultura Data-</a:t>
            </a:r>
            <a:r>
              <a:rPr lang="es-CL" sz="2000" b="1" u="none" strike="noStrike" dirty="0" err="1">
                <a:effectLst/>
              </a:rPr>
              <a:t>Driven</a:t>
            </a:r>
            <a:r>
              <a:rPr lang="es-CL" sz="2000" b="1" u="none" strike="noStrike" dirty="0">
                <a:effectLst/>
              </a:rPr>
              <a:t>:</a:t>
            </a:r>
            <a:r>
              <a:rPr lang="es-CL" sz="2000" dirty="0"/>
              <a:t> Sustituye las corazonadas por indicadores comerciales exactos.</a:t>
            </a:r>
          </a:p>
          <a:p>
            <a:endParaRPr lang="es-MX" sz="2000" b="1" u="none" strike="noStrike" dirty="0">
              <a:effectLst/>
            </a:endParaRPr>
          </a:p>
          <a:p>
            <a:r>
              <a:rPr lang="es-MX" sz="2000" b="1" u="none" strike="noStrike" dirty="0">
                <a:effectLst/>
              </a:rPr>
              <a:t>Mitigación de Riesgos:</a:t>
            </a:r>
            <a:r>
              <a:rPr lang="es-MX" sz="2000" dirty="0"/>
              <a:t> Detecta anomalías comerciales antes de que afecten el flujo de caja.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2257398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AC351-81A1-6660-BB45-C15DA5D6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Power</a:t>
            </a:r>
            <a:r>
              <a:rPr lang="es-MX" dirty="0"/>
              <a:t> BI frente a la Competencia: Elección de la Suite Analítica</a:t>
            </a:r>
            <a:endParaRPr lang="es-CL" dirty="0"/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FFEBEED7-6ACF-4BA0-C6A5-52D12A4129A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92995261"/>
              </p:ext>
            </p:extLst>
          </p:nvPr>
        </p:nvGraphicFramePr>
        <p:xfrm>
          <a:off x="677333" y="1930400"/>
          <a:ext cx="9079225" cy="3325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9510">
                  <a:extLst>
                    <a:ext uri="{9D8B030D-6E8A-4147-A177-3AD203B41FA5}">
                      <a16:colId xmlns:a16="http://schemas.microsoft.com/office/drawing/2014/main" val="2760433033"/>
                    </a:ext>
                  </a:extLst>
                </a:gridCol>
                <a:gridCol w="2480103">
                  <a:extLst>
                    <a:ext uri="{9D8B030D-6E8A-4147-A177-3AD203B41FA5}">
                      <a16:colId xmlns:a16="http://schemas.microsoft.com/office/drawing/2014/main" val="2633110637"/>
                    </a:ext>
                  </a:extLst>
                </a:gridCol>
                <a:gridCol w="2426728">
                  <a:extLst>
                    <a:ext uri="{9D8B030D-6E8A-4147-A177-3AD203B41FA5}">
                      <a16:colId xmlns:a16="http://schemas.microsoft.com/office/drawing/2014/main" val="946031800"/>
                    </a:ext>
                  </a:extLst>
                </a:gridCol>
                <a:gridCol w="2112884">
                  <a:extLst>
                    <a:ext uri="{9D8B030D-6E8A-4147-A177-3AD203B41FA5}">
                      <a16:colId xmlns:a16="http://schemas.microsoft.com/office/drawing/2014/main" val="90372599"/>
                    </a:ext>
                  </a:extLst>
                </a:gridCol>
              </a:tblGrid>
              <a:tr h="6469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Criterio de evaluación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📊 Microsoft </a:t>
                      </a:r>
                      <a:r>
                        <a:rPr lang="es-CL" dirty="0" err="1"/>
                        <a:t>Power</a:t>
                      </a:r>
                      <a:r>
                        <a:rPr lang="es-CL" dirty="0"/>
                        <a:t>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err="1"/>
                        <a:t>Tableau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err="1"/>
                        <a:t>Qlik</a:t>
                      </a:r>
                      <a:r>
                        <a:rPr lang="es-CL" dirty="0"/>
                        <a:t> </a:t>
                      </a:r>
                      <a:r>
                        <a:rPr lang="es-CL" dirty="0" err="1"/>
                        <a:t>Sense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421062"/>
                  </a:ext>
                </a:extLst>
              </a:tr>
              <a:tr h="646940">
                <a:tc>
                  <a:txBody>
                    <a:bodyPr/>
                    <a:lstStyle/>
                    <a:p>
                      <a:r>
                        <a:rPr lang="es-CL" b="1" dirty="0"/>
                        <a:t>Costo de Licencia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Económico y accesible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Costo de entrada elevado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Costo medio-alto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033199"/>
                  </a:ext>
                </a:extLst>
              </a:tr>
              <a:tr h="744311">
                <a:tc>
                  <a:txBody>
                    <a:bodyPr/>
                    <a:lstStyle/>
                    <a:p>
                      <a:r>
                        <a:rPr lang="es-CL" b="1" dirty="0"/>
                        <a:t>Curva de Aprendizaje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Intuitiva (Ecosistema Office)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Requiere capacitación técnica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Intermedia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861437"/>
                  </a:ext>
                </a:extLst>
              </a:tr>
              <a:tr h="646940">
                <a:tc>
                  <a:txBody>
                    <a:bodyPr/>
                    <a:lstStyle/>
                    <a:p>
                      <a:r>
                        <a:rPr lang="es-CL" b="1" dirty="0"/>
                        <a:t>Integración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Conexión nativa y fluida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Excelente pero compleja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Motor asociativo potente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492448"/>
                  </a:ext>
                </a:extLst>
              </a:tr>
              <a:tr h="604540">
                <a:tc>
                  <a:txBody>
                    <a:bodyPr/>
                    <a:lstStyle/>
                    <a:p>
                      <a:r>
                        <a:rPr lang="es-CL" b="1" dirty="0"/>
                        <a:t>Gobernanza y Seguridad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Máxima (Respaldada por Azure)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Alta, requiere configuración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507769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1D1FACAD-71A4-CEC3-ED3A-8FD27E892943}"/>
              </a:ext>
            </a:extLst>
          </p:cNvPr>
          <p:cNvSpPr txBox="1"/>
          <p:nvPr/>
        </p:nvSpPr>
        <p:spPr>
          <a:xfrm>
            <a:off x="677333" y="5504156"/>
            <a:ext cx="9079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u="none" strike="noStrike" dirty="0">
                <a:effectLst/>
              </a:rPr>
              <a:t>Conclusión:</a:t>
            </a:r>
            <a:r>
              <a:rPr lang="es-MX" sz="1600" dirty="0"/>
              <a:t> </a:t>
            </a:r>
            <a:r>
              <a:rPr lang="es-MX" sz="1600" dirty="0" err="1"/>
              <a:t>Power</a:t>
            </a:r>
            <a:r>
              <a:rPr lang="es-MX" sz="1600" dirty="0"/>
              <a:t> BI es la mejor opción para </a:t>
            </a:r>
            <a:r>
              <a:rPr lang="es-MX" sz="1600" dirty="0" err="1"/>
              <a:t>SmartRetail</a:t>
            </a:r>
            <a:r>
              <a:rPr lang="es-MX" sz="1600" dirty="0"/>
              <a:t> por su bajo costo, facilidad de uso e integración nativa con herramientas que el equipo ya utiliza.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382854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25317-4739-2A28-C056-B13A6E93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Ciclo Analítico Integral en </a:t>
            </a:r>
            <a:r>
              <a:rPr lang="es-MX" dirty="0" err="1"/>
              <a:t>Power</a:t>
            </a:r>
            <a:r>
              <a:rPr lang="es-MX" dirty="0"/>
              <a:t> BI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B500E3-06D5-A8D0-6C80-29759A625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z="2000" b="1" u="none" strike="noStrike" dirty="0" err="1">
                <a:effectLst/>
              </a:rPr>
              <a:t>Power</a:t>
            </a:r>
            <a:r>
              <a:rPr lang="es-MX" sz="2000" b="1" u="none" strike="noStrike" dirty="0">
                <a:effectLst/>
              </a:rPr>
              <a:t> BI Desktop (El Motor):</a:t>
            </a:r>
            <a:r>
              <a:rPr lang="es-MX" sz="2000" dirty="0"/>
              <a:t> Aplicación local para conectar, limpiar (</a:t>
            </a:r>
            <a:r>
              <a:rPr lang="es-MX" sz="2000" dirty="0" err="1"/>
              <a:t>Power</a:t>
            </a:r>
            <a:r>
              <a:rPr lang="es-MX" sz="2000" dirty="0"/>
              <a:t> </a:t>
            </a:r>
            <a:r>
              <a:rPr lang="es-MX" sz="2000" dirty="0" err="1"/>
              <a:t>Query</a:t>
            </a:r>
            <a:r>
              <a:rPr lang="es-MX" sz="2000" dirty="0"/>
              <a:t>) y modelar los datos de </a:t>
            </a:r>
            <a:r>
              <a:rPr lang="es-MX" sz="2000" dirty="0" err="1"/>
              <a:t>SmartRetail</a:t>
            </a:r>
            <a:r>
              <a:rPr lang="es-MX" sz="2000" dirty="0"/>
              <a:t>.</a:t>
            </a:r>
          </a:p>
          <a:p>
            <a:endParaRPr lang="es-MX" sz="2000" b="1" u="none" strike="noStrike" dirty="0">
              <a:effectLst/>
            </a:endParaRPr>
          </a:p>
          <a:p>
            <a:r>
              <a:rPr lang="es-MX" sz="2000" b="1" u="none" strike="noStrike" dirty="0" err="1">
                <a:effectLst/>
              </a:rPr>
              <a:t>Power</a:t>
            </a:r>
            <a:r>
              <a:rPr lang="es-MX" sz="2000" b="1" u="none" strike="noStrike" dirty="0">
                <a:effectLst/>
              </a:rPr>
              <a:t> BI </a:t>
            </a:r>
            <a:r>
              <a:rPr lang="es-MX" sz="2000" b="1" u="none" strike="noStrike" dirty="0" err="1">
                <a:effectLst/>
              </a:rPr>
              <a:t>Service</a:t>
            </a:r>
            <a:r>
              <a:rPr lang="es-MX" sz="2000" b="1" u="none" strike="noStrike" dirty="0">
                <a:effectLst/>
              </a:rPr>
              <a:t> (La Nube):</a:t>
            </a:r>
            <a:r>
              <a:rPr lang="es-MX" sz="2000" dirty="0"/>
              <a:t> Plataforma web para compartir reportes de forma segura y programar actualizaciones automáticas.</a:t>
            </a:r>
          </a:p>
          <a:p>
            <a:endParaRPr lang="es-MX" sz="2000" b="1" u="none" strike="noStrike" dirty="0">
              <a:effectLst/>
            </a:endParaRPr>
          </a:p>
          <a:p>
            <a:r>
              <a:rPr lang="es-MX" sz="2000" b="1" u="none" strike="noStrike" dirty="0" err="1">
                <a:effectLst/>
              </a:rPr>
              <a:t>Power</a:t>
            </a:r>
            <a:r>
              <a:rPr lang="es-MX" sz="2000" b="1" u="none" strike="noStrike" dirty="0">
                <a:effectLst/>
              </a:rPr>
              <a:t> BI Mobile (La Consulta):</a:t>
            </a:r>
            <a:r>
              <a:rPr lang="es-MX" sz="2000" dirty="0"/>
              <a:t> App nativa para que la gerencia supervise las ventas y el stock desde cualquier celular.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1625921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25CE1-6ED3-A056-7A8B-4C24F511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Soluciones Inmediatas para el Negocio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B1349A-3A1B-7ADB-7FC3-6B6C73853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sz="2000" b="1" u="none" strike="noStrike" dirty="0">
                <a:effectLst/>
              </a:rPr>
              <a:t>Control Exhaustivo de Inventarios:</a:t>
            </a:r>
            <a:r>
              <a:rPr lang="es-CL" sz="2000" dirty="0"/>
              <a:t> Alertas visuales automáticas para evitar quiebres de stock y </a:t>
            </a:r>
            <a:r>
              <a:rPr lang="es-CL" sz="2000" dirty="0" err="1"/>
              <a:t>sobrealmacenamiento</a:t>
            </a:r>
            <a:r>
              <a:rPr lang="es-CL" sz="2000" dirty="0"/>
              <a:t>.</a:t>
            </a:r>
          </a:p>
          <a:p>
            <a:pPr marL="0" indent="0">
              <a:buNone/>
            </a:pPr>
            <a:endParaRPr lang="es-MX" sz="2000" dirty="0"/>
          </a:p>
          <a:p>
            <a:r>
              <a:rPr lang="es-MX" sz="2000" b="1" u="none" strike="noStrike" dirty="0">
                <a:effectLst/>
              </a:rPr>
              <a:t>Análisis de Ventas Recientes:</a:t>
            </a:r>
            <a:r>
              <a:rPr lang="es-MX" sz="2000" dirty="0"/>
              <a:t> Monitoreo diario por categoría, sucursal, hora y canales de distribución.</a:t>
            </a:r>
          </a:p>
          <a:p>
            <a:pPr marL="0" indent="0">
              <a:buNone/>
            </a:pPr>
            <a:endParaRPr lang="es-MX" sz="2000" dirty="0"/>
          </a:p>
          <a:p>
            <a:r>
              <a:rPr lang="es-MX" sz="2000" b="1" u="none" strike="noStrike" dirty="0">
                <a:effectLst/>
              </a:rPr>
              <a:t>Consolidación Heterogénea:</a:t>
            </a:r>
            <a:r>
              <a:rPr lang="es-MX" sz="2000" dirty="0"/>
              <a:t> Fusión instantánea de archivos Excel/CSV provistos con el sistema del punto de venta (POS).</a:t>
            </a:r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2780779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</TotalTime>
  <Words>322</Words>
  <Application>Microsoft Office PowerPoint</Application>
  <PresentationFormat>Panorámica</PresentationFormat>
  <Paragraphs>47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Faceta</vt:lpstr>
      <vt:lpstr>Proyecto SmartRetail: Transformación Analítica y Sistema BI</vt:lpstr>
      <vt:lpstr>¿Qué es un Sistema BI y por qué es Vital para SmartRetail?</vt:lpstr>
      <vt:lpstr>Power BI frente a la Competencia: Elección de la Suite Analítica</vt:lpstr>
      <vt:lpstr>El Ciclo Analítico Integral en Power BI</vt:lpstr>
      <vt:lpstr>Soluciones Inmediatas para el Negocio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</dc:creator>
  <cp:lastModifiedBy>Fernanda</cp:lastModifiedBy>
  <cp:revision>1</cp:revision>
  <dcterms:created xsi:type="dcterms:W3CDTF">2026-08-25T13:39:52Z</dcterms:created>
  <dcterms:modified xsi:type="dcterms:W3CDTF">2026-08-25T14:26:38Z</dcterms:modified>
</cp:coreProperties>
</file>