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4ED10-28B2-120F-88F2-AF2F1DFA7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5EBF71-D7FE-3EF2-3843-DAE75D26D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B5F6B3-9EE7-EEA2-743F-DBEE4EA0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5EEDF8-31EA-24DD-BF30-198837C8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43E403-CA0C-09C8-112C-6A37CF1E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690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BD9E7-DE5F-6225-4835-A275FF17D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055253-1EDB-97E2-F542-663BE5A5F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4601B8-D28B-0812-9EE3-1871406FF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08E7E-AFF5-AA99-565A-93F8DB56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479B0C-ED0E-B7F4-A4F6-5967AFB7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124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3E735-3170-2C82-4018-C10E3C3A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D7B48C-15C5-62B3-35C3-7BF1D436D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CEE5B6-7BD4-38C6-5DCA-9489DE41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4C0B1-9905-D7AF-954E-76B1FAE1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BD5FCC-3963-64D4-281C-50530CEF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54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FB2E5-58F9-C9C1-E5F6-049E027C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5B8B9-989B-5F10-C646-535CD627F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262572-2650-9E8F-DA08-66447A36E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E2B3C8-11AB-FA56-B2B8-D76CD549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E5713-AE24-C305-6DDE-B7A7C877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5FF746-52B3-C824-5DA6-5CCB5511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418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9FCE9-DD62-8A9C-137F-2A59A57C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A45921-920B-1BC3-747F-7D691A153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C1798E-34AE-FCD6-6D98-5448BBCB2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DA5342-A1DB-F56F-9567-6029C450B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862951-642A-BE07-717F-CD34B178E5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55E6F2-E9F6-E88B-CFA2-1AFB7F96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76CA56-F7C3-C2EC-015E-DB8ED0BF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EC580E-0537-E111-858F-2A54EBD7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233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1D297-2790-94E4-591B-31FE65F9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B6BAE07-58DF-F61F-2B43-113BD56C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E06FE6-0930-E6C8-D556-5E829817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64E7D9-AD78-AD07-2F02-BFA03F62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816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832029-B30A-1FF2-6C2B-0B74BE537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F61A89-1438-B1F8-6ED3-2D6A2B51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4B6C49-4258-9127-EB23-CCF9F8B1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193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72893-700D-BADE-623F-FD1138499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03FBB8-9B08-BC2B-3985-0DE53813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401F3D-B6FC-A1FA-2D44-9323A8CE0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32161D-3DD5-E10C-1A58-106BFA2B9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9F4323-1D5A-00D2-B3E6-A82863AE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47715F-11CE-3E83-09A5-F92586A6F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1043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F251C-A22D-87C0-DFA2-C2D1A176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93D657-8695-B909-7209-4C4B80AF7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D956E71-D20D-15A4-BBF8-BF44604FC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B99901-A0BA-2CB7-6D65-1A437863C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5E4E3B-30D8-9A9A-B1A6-924B71B1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0D8284-DF03-A75E-04D4-0D7476BA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216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B8DF0-44EE-8B67-54F0-4EDCD87E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2959AF-5CE1-9355-AAC7-4DAEBC316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5AECF1-6A54-90D1-720F-97FBCB4C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61DBD-A35F-0369-8D68-A72147E6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0E9DB8-2BA7-F04B-98B0-388F2DC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951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B22976-E0AE-ECB0-80EE-A0F809E24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9A5657-AEEA-AF33-F20F-40BC2145B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A5F459-EF5B-0D59-7EF5-EDC73E48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091DAE-0A3D-A713-4ED1-16DD76C2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CEF023-19DF-8044-2F33-731260C2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4363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760FAA-C88B-CDC7-E014-E716F020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13CF19-BC8B-F9D8-6473-E66606DCC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6EB4E7-32CC-432F-6A4D-3442DE990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BCF6B-0C66-4620-B252-CA969E48A72B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4EA81A-263C-C6AA-C461-65228B3B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CDAD50-787D-42F7-52B4-8FB555F8D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FB6BB-F200-4C46-BE77-DD7C07C76B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314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88BE7-AAF3-24AE-7F79-1648F72A0F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 Financiero y Operativo de 18 Meses de Transformación Digital.</a:t>
            </a:r>
            <a:endParaRPr lang="es-CL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9E8E4E-D6CD-8A10-6673-1AAD6A8C6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06987"/>
            <a:ext cx="9144000" cy="1275151"/>
          </a:xfrm>
        </p:spPr>
        <p:txBody>
          <a:bodyPr>
            <a:noAutofit/>
          </a:bodyPr>
          <a:lstStyle/>
          <a:p>
            <a:r>
              <a:rPr lang="es-CL" sz="3200" b="1" u="none" strike="noStrike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86.9%</a:t>
            </a:r>
            <a:r>
              <a:rPr lang="es-CL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Productividad Actual</a:t>
            </a:r>
          </a:p>
          <a:p>
            <a:r>
              <a:rPr lang="es-MX" sz="3200" b="1" u="none" strike="noStrike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+9.8%</a:t>
            </a:r>
            <a:r>
              <a:rPr lang="es-MX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ROI de la Transformación</a:t>
            </a:r>
            <a:endParaRPr lang="es-CL" sz="3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30054D7-60B0-40F2-E92D-466FE4708B38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144000" cy="912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Informe ejecutivo de resultados y propuesta de continuidad estratégica para </a:t>
            </a:r>
            <a:r>
              <a:rPr lang="es-MX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TechCorp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8627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276F9-0550-E83A-D09B-3BB578A1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El Punto de Partida: Un modelo tradicional con techos de eficiencia.</a:t>
            </a:r>
            <a:endParaRPr lang="es-CL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6EF05E26-85F6-5827-792E-BBCBA5948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049" y="1690688"/>
            <a:ext cx="8343901" cy="3911381"/>
          </a:xfr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397A054-6BDF-6608-DE00-AE61354BCD6B}"/>
              </a:ext>
            </a:extLst>
          </p:cNvPr>
          <p:cNvSpPr txBox="1"/>
          <p:nvPr/>
        </p:nvSpPr>
        <p:spPr>
          <a:xfrm>
            <a:off x="838200" y="560206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"A mediados de 2023, la planta operaba a su máxima capacidad. La digitalización no era una opción, era la solución para escalar."</a:t>
            </a:r>
            <a:endParaRPr lang="es-CL" i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213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5D035-257E-62B8-D8CC-8EFB33B9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El Costo de la Adaptación: Estrés operativo en el primer semestre de 2024.</a:t>
            </a:r>
            <a:endParaRPr lang="es-CL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09B4BC4-3F69-653A-FD45-FE900C219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690688"/>
            <a:ext cx="7315200" cy="4024313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C33E1FE-B3E0-A61D-6CED-985C8632DB65}"/>
              </a:ext>
            </a:extLst>
          </p:cNvPr>
          <p:cNvSpPr txBox="1"/>
          <p:nvPr/>
        </p:nvSpPr>
        <p:spPr>
          <a:xfrm>
            <a:off x="838200" y="5843963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 digitalización acelerada causó fricción humana debido a que los sistemas se implementaron más rápido de lo que el personal podía absorberlos.</a:t>
            </a:r>
            <a:endParaRPr lang="es-CL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040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C7444-573E-5AB2-31AD-06948680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El Punto de Inflexión: Capacitación como motor de adopción.</a:t>
            </a:r>
            <a:endParaRPr lang="es-CL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1413159-0E07-4408-770A-7BB579E15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1690688"/>
            <a:ext cx="7600953" cy="4236504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5721A72-0E67-015E-EF31-F8A91D1189FD}"/>
              </a:ext>
            </a:extLst>
          </p:cNvPr>
          <p:cNvSpPr txBox="1"/>
          <p:nvPr/>
        </p:nvSpPr>
        <p:spPr>
          <a:xfrm>
            <a:off x="1095375" y="5846544"/>
            <a:ext cx="10096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El dinero invertido en el personal fue el catalizador que impulsó el uso real de la tecnología adquirida.</a:t>
            </a:r>
            <a:endParaRPr lang="es-CL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86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08363-C13A-CC25-8519-DDC02530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El Resultado: Eficiencia operativa convertida en valor financiero.</a:t>
            </a:r>
            <a:endParaRPr lang="es-CL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329075-8505-0040-1D8E-7789B7497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1" y="1690688"/>
            <a:ext cx="7324724" cy="3833812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DCAC94B-6104-479F-81A3-A5C6031D9D23}"/>
              </a:ext>
            </a:extLst>
          </p:cNvPr>
          <p:cNvSpPr txBox="1"/>
          <p:nvPr/>
        </p:nvSpPr>
        <p:spPr>
          <a:xfrm>
            <a:off x="838199" y="5524500"/>
            <a:ext cx="10601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 transformación ya se autofinancia. Detener la inversión ahora significaría apagar los motores de eficiencia justo en su momento más rentable.</a:t>
            </a:r>
            <a:endParaRPr lang="es-CL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74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4AAD3-404C-AFBC-5F7A-F99DD662B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Plan de Estabilización y Expansión: Próximos 6 meses.</a:t>
            </a:r>
            <a:endParaRPr lang="es-CL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C347D3E-0E20-86F5-3750-F9E136686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563729"/>
              </p:ext>
            </p:extLst>
          </p:nvPr>
        </p:nvGraphicFramePr>
        <p:xfrm>
          <a:off x="838200" y="1825624"/>
          <a:ext cx="10515597" cy="3856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0950">
                  <a:extLst>
                    <a:ext uri="{9D8B030D-6E8A-4147-A177-3AD203B41FA5}">
                      <a16:colId xmlns:a16="http://schemas.microsoft.com/office/drawing/2014/main" val="1687267556"/>
                    </a:ext>
                  </a:extLst>
                </a:gridCol>
                <a:gridCol w="3219448">
                  <a:extLst>
                    <a:ext uri="{9D8B030D-6E8A-4147-A177-3AD203B41FA5}">
                      <a16:colId xmlns:a16="http://schemas.microsoft.com/office/drawing/2014/main" val="217159784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70780740"/>
                    </a:ext>
                  </a:extLst>
                </a:gridCol>
              </a:tblGrid>
              <a:tr h="600182">
                <a:tc>
                  <a:txBody>
                    <a:bodyPr/>
                    <a:lstStyle/>
                    <a:p>
                      <a:r>
                        <a:rPr lang="es-CL" dirty="0"/>
                        <a:t>Iniciativa Estratégica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KPI Impactado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Meta (6 Meses)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69533"/>
                  </a:ext>
                </a:extLst>
              </a:tr>
              <a:tr h="1021362">
                <a:tc>
                  <a:txBody>
                    <a:bodyPr/>
                    <a:lstStyle/>
                    <a:p>
                      <a:r>
                        <a:rPr lang="es-MX" sz="1800" b="1" u="none" strike="noStrike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Mitigación de Vacantes:</a:t>
                      </a:r>
                      <a:r>
                        <a:rPr lang="es-MX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Plan de atracción para cubrir las </a:t>
                      </a:r>
                      <a:r>
                        <a:rPr lang="es-MX" sz="1800" b="1" u="none" strike="noStrike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 vacantes críticas</a:t>
                      </a:r>
                      <a:r>
                        <a:rPr lang="es-MX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de TI sin cubrir.</a:t>
                      </a:r>
                      <a:endParaRPr lang="es-CL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Capacidad de Soporte 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Reducir tickets pendientes en un 40%</a:t>
                      </a:r>
                      <a:endParaRPr lang="es-CL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90572"/>
                  </a:ext>
                </a:extLst>
              </a:tr>
              <a:tr h="1213812">
                <a:tc>
                  <a:txBody>
                    <a:bodyPr/>
                    <a:lstStyle/>
                    <a:p>
                      <a:r>
                        <a:rPr lang="es-MX" sz="1800" b="1" u="none" strike="noStrike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Optimización de Costos:</a:t>
                      </a:r>
                      <a:r>
                        <a:rPr lang="es-MX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Absorber los costos operativos remanentes mediante el uso de analítica predictiva.</a:t>
                      </a:r>
                      <a:endParaRPr lang="es-CL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Costo Operacional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Estabilizar </a:t>
                      </a:r>
                      <a:r>
                        <a:rPr lang="es-CL" b="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en </a:t>
                      </a:r>
                      <a:r>
                        <a:rPr lang="es-CL" sz="1800" b="0" u="none" strike="noStrike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724784"/>
                  </a:ext>
                </a:extLst>
              </a:tr>
              <a:tr h="1021362">
                <a:tc>
                  <a:txBody>
                    <a:bodyPr/>
                    <a:lstStyle/>
                    <a:p>
                      <a:r>
                        <a:rPr lang="es-MX" sz="1800" b="1" u="none" strike="noStrike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Sostenibilidad del Clima:</a:t>
                      </a:r>
                      <a:r>
                        <a:rPr lang="es-MX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Implementar incentivos ligados a la productividad digital.</a:t>
                      </a:r>
                      <a:endParaRPr lang="es-CL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Satisfacción del Empleado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b="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Elevar el score de 55 a </a:t>
                      </a:r>
                      <a:r>
                        <a:rPr lang="es-MX" sz="1800" b="0" u="none" strike="noStrike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 puntos</a:t>
                      </a:r>
                      <a:endParaRPr lang="es-CL" sz="1800" b="0" u="none" strike="noStrike" kern="12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900792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90A50BBD-243A-4CED-09FB-19AA5AB0F363}"/>
              </a:ext>
            </a:extLst>
          </p:cNvPr>
          <p:cNvSpPr txBox="1"/>
          <p:nvPr/>
        </p:nvSpPr>
        <p:spPr>
          <a:xfrm>
            <a:off x="838199" y="5987534"/>
            <a:ext cx="10515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b="1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transformación ya funciona y se paga a sí misma. ¿Aprobamos la fase de consolidación para asegurar el futuro digital de </a:t>
            </a:r>
            <a:r>
              <a:rPr lang="es-CL" sz="1800" b="1" kern="100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TechCorp</a:t>
            </a:r>
            <a:r>
              <a:rPr lang="es-CL" sz="1800" b="1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s-CL" sz="1800" b="1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223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1558</TotalTime>
  <Words>293</Words>
  <Application>Microsoft Office PowerPoint</Application>
  <PresentationFormat>Panorámica</PresentationFormat>
  <Paragraphs>26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Impacto Financiero y Operativo de 18 Meses de Transformación Digital.</vt:lpstr>
      <vt:lpstr>El Punto de Partida: Un modelo tradicional con techos de eficiencia.</vt:lpstr>
      <vt:lpstr>El Costo de la Adaptación: Estrés operativo en el primer semestre de 2024.</vt:lpstr>
      <vt:lpstr>El Punto de Inflexión: Capacitación como motor de adopción.</vt:lpstr>
      <vt:lpstr>El Resultado: Eficiencia operativa convertida en valor financiero.</vt:lpstr>
      <vt:lpstr>Plan de Estabilización y Expansión: Próximos 6 meses.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</dc:creator>
  <cp:lastModifiedBy>Fernanda</cp:lastModifiedBy>
  <cp:revision>4</cp:revision>
  <dcterms:created xsi:type="dcterms:W3CDTF">2026-09-01T15:06:19Z</dcterms:created>
  <dcterms:modified xsi:type="dcterms:W3CDTF">2026-09-02T17:32:09Z</dcterms:modified>
</cp:coreProperties>
</file>